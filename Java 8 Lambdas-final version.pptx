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568cb08f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a568cb08f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568cb08f0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a568cb08f0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568cb08f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a568cb08f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568cb08f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a568cb08f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568cb08f0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a568cb08f0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568cb08f0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a568cb08f0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568cb08f0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a568cb08f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568cb08f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a568cb08f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568cb08f0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3a568cb08f0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568cb08f0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3a568cb08f0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0054220" y="1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7254230" y="51505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901618" y="2049154"/>
            <a:ext cx="7701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Introduction of </a:t>
            </a:r>
            <a:r>
              <a:rPr lang="en-US" sz="6000" b="1" i="0" u="none" strike="noStrike" cap="none" dirty="0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Lambda's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10054220" y="1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7254230" y="51505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30914" y="2374505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The Problem Before Java 8</a:t>
            </a:r>
            <a:endParaRPr dirty="0">
              <a:latin typeface="+mn-lt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30914" y="2757005"/>
            <a:ext cx="52770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Creating anonymous inner classes for Callbacks, Event listeners, and Comparators made code:</a:t>
            </a:r>
            <a:endParaRPr sz="1600" dirty="0">
              <a:latin typeface="+mn-l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19890" y="4812912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The Solution: Lambdas</a:t>
            </a:r>
            <a:endParaRPr dirty="0">
              <a:latin typeface="+mn-lt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19890" y="5195412"/>
            <a:ext cx="5277000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Lambdas were 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introduced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to simplify and shorten this code, making it more readable and less cumbersome.</a:t>
            </a:r>
            <a:endParaRPr dirty="0">
              <a:latin typeface="+mn-lt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30914" y="3488374"/>
            <a:ext cx="5277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Verbose: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More words than necessary.</a:t>
            </a:r>
            <a:endParaRPr sz="1600" dirty="0">
              <a:latin typeface="+mn-l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30914" y="3882595"/>
            <a:ext cx="5277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Hard to Read: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Difficult to follow the logic.</a:t>
            </a:r>
            <a:endParaRPr sz="1600" dirty="0">
              <a:latin typeface="+mn-l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30914" y="4241617"/>
            <a:ext cx="5277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Cumbersome: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Complicated and unwieldy.</a:t>
            </a:r>
            <a:endParaRPr sz="1600" dirty="0">
              <a:latin typeface="+mn-lt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595137" y="1783542"/>
            <a:ext cx="11581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2060"/>
                </a:solidFill>
                <a:latin typeface="+mn-lt"/>
                <a:ea typeface="Poppins"/>
                <a:cs typeface="Poppins"/>
                <a:sym typeface="Poppins"/>
              </a:rPr>
              <a:t>Why Were Lambdas Introduced?</a:t>
            </a:r>
            <a:endParaRPr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10054220" y="1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254230" y="51505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962025" y="2340863"/>
            <a:ext cx="7510362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Removes Boilerplate: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Eliminates verbose anonymous inner class syntax.</a:t>
            </a:r>
            <a:endParaRPr sz="1600" dirty="0">
              <a:latin typeface="+mn-lt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962024" y="3140963"/>
            <a:ext cx="751036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Concise Code: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Shorter, more expressive, and focuses on the logic.</a:t>
            </a:r>
            <a:endParaRPr sz="1600" dirty="0">
              <a:latin typeface="+mn-lt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962024" y="3941063"/>
            <a:ext cx="8787577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Functional Style: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Enables functional programming and works with Streams.</a:t>
            </a:r>
            <a:endParaRPr sz="1600" dirty="0">
              <a:latin typeface="+mn-lt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62024" y="4741163"/>
            <a:ext cx="798091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Safer Closures: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Clearly captures `final` or `effectively-final` variables.</a:t>
            </a:r>
            <a:endParaRPr sz="1600" dirty="0">
              <a:latin typeface="+mn-lt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962024" y="5541264"/>
            <a:ext cx="6211662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334155"/>
                </a:solidFill>
                <a:latin typeface="+mn-lt"/>
                <a:ea typeface="Lato"/>
                <a:cs typeface="Lato"/>
                <a:sym typeface="Lato"/>
              </a:rPr>
              <a:t>Readability: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Much easier to read and maintain once you understand the syntax.</a:t>
            </a:r>
            <a:endParaRPr sz="1600" dirty="0">
              <a:latin typeface="+mn-lt"/>
            </a:endParaRPr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38848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88588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98868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78878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5588889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454750" y="1639141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2060"/>
                </a:solidFill>
                <a:latin typeface="+mn-lt"/>
                <a:ea typeface="Poppins"/>
                <a:cs typeface="Poppins"/>
                <a:sym typeface="Poppins"/>
              </a:rPr>
              <a:t>Why Lambdas are Better</a:t>
            </a:r>
            <a:endParaRPr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10054220" y="1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7254230" y="51505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81025" y="2753315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Definition</a:t>
            </a:r>
            <a:endParaRPr dirty="0">
              <a:latin typeface="+mn-lt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712874" y="3111904"/>
            <a:ext cx="7429639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A callback is a method (a piece of code) that is passed as an argument to another method. The receiving method then "calls back" this method later, often when a task is finished or an event occurs.</a:t>
            </a:r>
            <a:endParaRPr sz="1600" dirty="0">
              <a:latin typeface="+mn-lt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55300" y="4583975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Common Uses</a:t>
            </a:r>
            <a:endParaRPr dirty="0">
              <a:latin typeface="+mn-lt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12874" y="4901619"/>
            <a:ext cx="5277000" cy="763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Handling 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button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clicks, completing an asynchronous task (like downloading data), or executing code in a separate thread.</a:t>
            </a:r>
            <a:endParaRPr dirty="0">
              <a:latin typeface="+mn-lt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581025" y="201128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Use Case 1: What is a callback?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10054220" y="97972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7254230" y="51505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164986"/>
            <a:ext cx="5467350" cy="56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7827" y="1163475"/>
            <a:ext cx="5086351" cy="56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54379" y="1488836"/>
            <a:ext cx="512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Before Java 8</a:t>
            </a:r>
            <a:endParaRPr dirty="0">
              <a:latin typeface="+mn-lt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81025" y="431475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Callbacks: Code Comparison</a:t>
            </a:r>
            <a:endParaRPr dirty="0">
              <a:latin typeface="+mn-lt"/>
            </a:endParaRPr>
          </a:p>
        </p:txBody>
      </p:sp>
      <p:sp>
        <p:nvSpPr>
          <p:cNvPr id="2" name="Google Shape;202;p19">
            <a:extLst>
              <a:ext uri="{FF2B5EF4-FFF2-40B4-BE49-F238E27FC236}">
                <a16:creationId xmlns:a16="http://schemas.microsoft.com/office/drawing/2014/main" id="{F6028768-B127-F9A1-C059-BA28EC6FA54B}"/>
              </a:ext>
            </a:extLst>
          </p:cNvPr>
          <p:cNvSpPr txBox="1"/>
          <p:nvPr/>
        </p:nvSpPr>
        <p:spPr>
          <a:xfrm>
            <a:off x="6426429" y="1485810"/>
            <a:ext cx="462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After Java 8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0054220" y="1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7254230" y="51505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630914" y="2614656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Definition</a:t>
            </a:r>
            <a:endParaRPr dirty="0">
              <a:latin typeface="+mn-lt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938423" y="2937756"/>
            <a:ext cx="527700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An Event Listener is an object that waits for an event to occur (like a button click, mouse move, key press, etc.) and executes specific code in response to that event.</a:t>
            </a:r>
            <a:endParaRPr sz="1600" dirty="0">
              <a:latin typeface="+mn-lt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674723" y="4235466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In Simple Words</a:t>
            </a:r>
            <a:endParaRPr dirty="0">
              <a:latin typeface="+mn-lt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938423" y="4674414"/>
            <a:ext cx="527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Event Listener = “When this happens, do this.”</a:t>
            </a:r>
            <a:endParaRPr dirty="0">
              <a:latin typeface="+mn-lt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81025" y="2014213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Use Case 2: What is an event listener?</a:t>
            </a:r>
            <a:endParaRPr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10054220" y="1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7254230" y="51505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736628"/>
            <a:ext cx="55626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9875" y="2795024"/>
            <a:ext cx="49911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751998" y="3060478"/>
            <a:ext cx="522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Before Java 8</a:t>
            </a:r>
            <a:endParaRPr>
              <a:latin typeface="+mn-l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805136" y="3118874"/>
            <a:ext cx="462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After Java 8</a:t>
            </a:r>
            <a:endParaRPr dirty="0">
              <a:latin typeface="+mn-lt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581025" y="1741847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Event Listeners: Code Comparison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10173963" y="-66874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7532914" y="5607776"/>
            <a:ext cx="1150216" cy="1141367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630914" y="2806025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Definition</a:t>
            </a:r>
            <a:endParaRPr dirty="0">
              <a:latin typeface="+mn-lt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094774" y="3153020"/>
            <a:ext cx="722191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A </a:t>
            </a: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Comparator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 is an interface in Java used to define custom sorting logic for objects.</a:t>
            </a:r>
            <a:endParaRPr dirty="0">
              <a:latin typeface="+mn-lt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30914" y="3685762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Simple Definition</a:t>
            </a:r>
            <a:endParaRPr dirty="0">
              <a:latin typeface="+mn-lt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995019" y="4147650"/>
            <a:ext cx="69736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👉 Comparator = a rule that tells Java how to compare two objects.</a:t>
            </a:r>
            <a:endParaRPr dirty="0">
              <a:latin typeface="+mn-lt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630914" y="4655770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Why we use it</a:t>
            </a:r>
            <a:endParaRPr dirty="0">
              <a:latin typeface="+mn-lt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015439" y="5117658"/>
            <a:ext cx="71053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To sort objects in a specific order (ascending, descending, by name, by age, etc.)</a:t>
            </a:r>
            <a:endParaRPr dirty="0">
              <a:latin typeface="+mn-lt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81025" y="2280176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Use Case 3: What is a comparator?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10054220" y="1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1132433" y="1236464"/>
            <a:ext cx="952500" cy="47625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6587205" y="3445750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740926"/>
            <a:ext cx="53721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800477"/>
            <a:ext cx="3848100" cy="360044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756761" y="3064776"/>
            <a:ext cx="502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Before Java 8</a:t>
            </a:r>
            <a:endParaRPr>
              <a:latin typeface="+mn-lt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6452711" y="3124327"/>
            <a:ext cx="3420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After Java 8</a:t>
            </a:r>
            <a:endParaRPr>
              <a:latin typeface="+mn-lt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81025" y="1940538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Comparators: Code Comparison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10054220" y="1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7067637" y="540760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581025" y="2588517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Definition</a:t>
            </a:r>
            <a:endParaRPr>
              <a:latin typeface="+mn-lt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798739" y="2944968"/>
            <a:ext cx="6102804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A Runnable is a functional interface in Java that represents a task or piece of work that can be executed by a thread.</a:t>
            </a:r>
            <a:endParaRPr sz="1600" dirty="0">
              <a:latin typeface="+mn-lt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581025" y="3930291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Simple Definition</a:t>
            </a:r>
            <a:endParaRPr dirty="0">
              <a:latin typeface="+mn-lt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798739" y="4387205"/>
            <a:ext cx="527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👉 Runnable = a task that a thread can run.</a:t>
            </a:r>
            <a:endParaRPr dirty="0">
              <a:latin typeface="+mn-lt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630914" y="4888179"/>
            <a:ext cx="55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Key Point</a:t>
            </a:r>
            <a:endParaRPr>
              <a:latin typeface="+mn-lt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98739" y="5272065"/>
            <a:ext cx="527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It has only one method: void run();</a:t>
            </a:r>
            <a:endParaRPr dirty="0">
              <a:latin typeface="+mn-lt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581025" y="1962753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Use Case 4: What is a runnable?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10054220" y="1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6587205" y="3445750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936625"/>
            <a:ext cx="5276850" cy="3400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995014"/>
            <a:ext cx="527685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759142" y="3260475"/>
            <a:ext cx="492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Before Java 8</a:t>
            </a:r>
            <a:endParaRPr>
              <a:latin typeface="+mn-lt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6512242" y="3318864"/>
            <a:ext cx="492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F46E5"/>
                </a:solidFill>
                <a:latin typeface="+mn-lt"/>
                <a:ea typeface="Poppins"/>
                <a:cs typeface="Poppins"/>
                <a:sym typeface="Poppins"/>
              </a:rPr>
              <a:t>After Java 8</a:t>
            </a:r>
            <a:endParaRPr>
              <a:latin typeface="+mn-lt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630914" y="2275376"/>
            <a:ext cx="1158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Runnable: Code Comparison</a:t>
            </a: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/>
          <p:nvPr/>
        </p:nvSpPr>
        <p:spPr>
          <a:xfrm>
            <a:off x="9178750" y="3721963"/>
            <a:ext cx="2857500" cy="2857500"/>
          </a:xfrm>
          <a:prstGeom prst="roundRect">
            <a:avLst>
              <a:gd name="adj" fmla="val 16667"/>
            </a:avLst>
          </a:prstGeom>
          <a:solidFill>
            <a:srgbClr val="FEF0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2286655" y="333075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249914" y="333070"/>
            <a:ext cx="762000" cy="762000"/>
          </a:xfrm>
          <a:prstGeom prst="roundRect">
            <a:avLst>
              <a:gd name="adj" fmla="val 16667"/>
            </a:avLst>
          </a:prstGeom>
          <a:solidFill>
            <a:srgbClr val="FBCF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10054220" y="1"/>
            <a:ext cx="2280300" cy="2577900"/>
          </a:xfrm>
          <a:prstGeom prst="roundRect">
            <a:avLst>
              <a:gd name="adj" fmla="val 16667"/>
            </a:avLst>
          </a:prstGeom>
          <a:solidFill>
            <a:srgbClr val="BFDB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6385887" y="582453"/>
            <a:ext cx="2086500" cy="1413000"/>
          </a:xfrm>
          <a:prstGeom prst="roundRect">
            <a:avLst>
              <a:gd name="adj" fmla="val 16667"/>
            </a:avLst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1132433" y="1236464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9101733" y="2683289"/>
            <a:ext cx="952500" cy="476400"/>
          </a:xfrm>
          <a:prstGeom prst="roundRect">
            <a:avLst>
              <a:gd name="adj" fmla="val 16667"/>
            </a:avLst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7600376" y="5256876"/>
            <a:ext cx="1428900" cy="14289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155750" y="2830141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E293B"/>
                </a:solidFill>
                <a:latin typeface="+mn-lt"/>
                <a:ea typeface="Poppins"/>
                <a:cs typeface="Poppins"/>
                <a:sym typeface="Poppins"/>
              </a:rPr>
              <a:t>Questions?</a:t>
            </a:r>
            <a:endParaRPr dirty="0">
              <a:latin typeface="+mn-lt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431450" y="3848378"/>
            <a:ext cx="11030100" cy="115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Thank you for your attention, </a:t>
            </a:r>
            <a:br>
              <a:rPr lang="en-US" sz="165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</a:br>
            <a:r>
              <a:rPr lang="en-US" sz="1650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If you have any questions, please comment on the comment session I will reply on comments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+mn-lt"/>
                <a:ea typeface="Lato"/>
                <a:cs typeface="Lato"/>
                <a:sym typeface="Lato"/>
              </a:rPr>
              <a:t>.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471</Words>
  <Application>Microsoft Office PowerPoint</Application>
  <PresentationFormat>Widescreen</PresentationFormat>
  <Paragraphs>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Vinay Kowkoori</dc:creator>
  <cp:lastModifiedBy>Vinay Kowkoori</cp:lastModifiedBy>
  <cp:revision>5</cp:revision>
  <dcterms:modified xsi:type="dcterms:W3CDTF">2025-11-18T10:00:42Z</dcterms:modified>
</cp:coreProperties>
</file>