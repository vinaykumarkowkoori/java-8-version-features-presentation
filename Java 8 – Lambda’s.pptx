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56" r:id="rId5"/>
    <p:sldId id="277" r:id="rId6"/>
    <p:sldId id="279" r:id="rId7"/>
    <p:sldId id="278" r:id="rId8"/>
    <p:sldId id="283" r:id="rId9"/>
    <p:sldId id="280" r:id="rId10"/>
    <p:sldId id="284" r:id="rId11"/>
    <p:sldId id="281" r:id="rId12"/>
    <p:sldId id="285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48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F476B7-4C9A-40BD-8F6C-F6B94DD7DC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29090-4DC9-448D-8078-EF4E914D4FA2}">
      <dgm:prSet/>
      <dgm:spPr/>
      <dgm:t>
        <a:bodyPr/>
        <a:lstStyle/>
        <a:p>
          <a:r>
            <a:rPr lang="en-US" b="1" i="0" dirty="0"/>
            <a:t>Why Lambda Version is Better</a:t>
          </a:r>
          <a:endParaRPr lang="en-US" dirty="0"/>
        </a:p>
      </dgm:t>
    </dgm:pt>
    <dgm:pt modelId="{7A3ABC9A-3007-48C3-9BC8-A9D2152A20D9}" type="parTrans" cxnId="{8ED5E30E-879F-4CF3-A78F-7E16F2EC8167}">
      <dgm:prSet/>
      <dgm:spPr/>
      <dgm:t>
        <a:bodyPr/>
        <a:lstStyle/>
        <a:p>
          <a:endParaRPr lang="en-US"/>
        </a:p>
      </dgm:t>
    </dgm:pt>
    <dgm:pt modelId="{9FA071EE-37F7-4E20-AA66-CC09F90949E8}" type="sibTrans" cxnId="{8ED5E30E-879F-4CF3-A78F-7E16F2EC8167}">
      <dgm:prSet/>
      <dgm:spPr/>
      <dgm:t>
        <a:bodyPr/>
        <a:lstStyle/>
        <a:p>
          <a:endParaRPr lang="en-US"/>
        </a:p>
      </dgm:t>
    </dgm:pt>
    <dgm:pt modelId="{27FE2EC0-629D-496F-BD41-EB260CF44319}">
      <dgm:prSet/>
      <dgm:spPr/>
      <dgm:t>
        <a:bodyPr/>
        <a:lstStyle/>
        <a:p>
          <a:r>
            <a:rPr lang="en-US" b="1" i="0" dirty="0"/>
            <a:t>Cleaner syntax</a:t>
          </a:r>
          <a:r>
            <a:rPr lang="en-US" b="0" i="0" dirty="0"/>
            <a:t> – no repeated interface or method name</a:t>
          </a:r>
          <a:endParaRPr lang="en-US" dirty="0"/>
        </a:p>
      </dgm:t>
    </dgm:pt>
    <dgm:pt modelId="{16CB004B-9A7F-402C-95B6-B578C5D6501E}" type="parTrans" cxnId="{2B2FF1E3-E373-4EBB-B177-487C80BC62D5}">
      <dgm:prSet/>
      <dgm:spPr/>
      <dgm:t>
        <a:bodyPr/>
        <a:lstStyle/>
        <a:p>
          <a:endParaRPr lang="en-US"/>
        </a:p>
      </dgm:t>
    </dgm:pt>
    <dgm:pt modelId="{6D98C765-2B5F-48E5-A43B-A55C55F95838}" type="sibTrans" cxnId="{2B2FF1E3-E373-4EBB-B177-487C80BC62D5}">
      <dgm:prSet/>
      <dgm:spPr/>
      <dgm:t>
        <a:bodyPr/>
        <a:lstStyle/>
        <a:p>
          <a:endParaRPr lang="en-US"/>
        </a:p>
      </dgm:t>
    </dgm:pt>
    <dgm:pt modelId="{13BCFFD8-D2F8-4951-B360-7F3914CF512B}">
      <dgm:prSet/>
      <dgm:spPr/>
      <dgm:t>
        <a:bodyPr/>
        <a:lstStyle/>
        <a:p>
          <a:r>
            <a:rPr lang="en-US" b="1" i="0"/>
            <a:t>Reduces boilerplate</a:t>
          </a:r>
          <a:r>
            <a:rPr lang="en-US" b="0" i="0"/>
            <a:t> (no ActionListener class block)</a:t>
          </a:r>
          <a:endParaRPr lang="en-US"/>
        </a:p>
      </dgm:t>
    </dgm:pt>
    <dgm:pt modelId="{761687CD-F3F3-41CB-8697-2BD229A320A4}" type="parTrans" cxnId="{3E1C9A3D-6462-4976-9266-9CA8D679E172}">
      <dgm:prSet/>
      <dgm:spPr/>
      <dgm:t>
        <a:bodyPr/>
        <a:lstStyle/>
        <a:p>
          <a:endParaRPr lang="en-US"/>
        </a:p>
      </dgm:t>
    </dgm:pt>
    <dgm:pt modelId="{6440E190-E129-48D0-86D9-2B89856A3C4F}" type="sibTrans" cxnId="{3E1C9A3D-6462-4976-9266-9CA8D679E172}">
      <dgm:prSet/>
      <dgm:spPr/>
      <dgm:t>
        <a:bodyPr/>
        <a:lstStyle/>
        <a:p>
          <a:endParaRPr lang="en-US"/>
        </a:p>
      </dgm:t>
    </dgm:pt>
    <dgm:pt modelId="{C342154A-01AD-44A9-92D9-CCA2D76F01C4}">
      <dgm:prSet/>
      <dgm:spPr/>
      <dgm:t>
        <a:bodyPr/>
        <a:lstStyle/>
        <a:p>
          <a:r>
            <a:rPr lang="en-US" b="1" i="0"/>
            <a:t>More readable and focused code</a:t>
          </a:r>
          <a:endParaRPr lang="en-US"/>
        </a:p>
      </dgm:t>
    </dgm:pt>
    <dgm:pt modelId="{4A85A01D-4FA7-4284-BBAC-DC5E5ABBEA18}" type="parTrans" cxnId="{64836540-D414-4DFC-8039-E55A89652109}">
      <dgm:prSet/>
      <dgm:spPr/>
      <dgm:t>
        <a:bodyPr/>
        <a:lstStyle/>
        <a:p>
          <a:endParaRPr lang="en-US"/>
        </a:p>
      </dgm:t>
    </dgm:pt>
    <dgm:pt modelId="{EEED0C99-35E7-42F9-A7A6-5FB963B572CF}" type="sibTrans" cxnId="{64836540-D414-4DFC-8039-E55A89652109}">
      <dgm:prSet/>
      <dgm:spPr/>
      <dgm:t>
        <a:bodyPr/>
        <a:lstStyle/>
        <a:p>
          <a:endParaRPr lang="en-US"/>
        </a:p>
      </dgm:t>
    </dgm:pt>
    <dgm:pt modelId="{42CF947E-57CC-4477-B62A-E186DA0F2B81}">
      <dgm:prSet/>
      <dgm:spPr/>
      <dgm:t>
        <a:bodyPr/>
        <a:lstStyle/>
        <a:p>
          <a:r>
            <a:rPr lang="en-US" b="1" i="0"/>
            <a:t>Captures context easily when needed</a:t>
          </a:r>
          <a:endParaRPr lang="en-US"/>
        </a:p>
      </dgm:t>
    </dgm:pt>
    <dgm:pt modelId="{65E3F93B-73B0-4090-A778-A696B90B0EBD}" type="parTrans" cxnId="{697A0CE9-4DC8-405F-850B-33B28C00191F}">
      <dgm:prSet/>
      <dgm:spPr/>
      <dgm:t>
        <a:bodyPr/>
        <a:lstStyle/>
        <a:p>
          <a:endParaRPr lang="en-US"/>
        </a:p>
      </dgm:t>
    </dgm:pt>
    <dgm:pt modelId="{A7555E52-234B-48DC-93FD-D340C2C7D138}" type="sibTrans" cxnId="{697A0CE9-4DC8-405F-850B-33B28C00191F}">
      <dgm:prSet/>
      <dgm:spPr/>
      <dgm:t>
        <a:bodyPr/>
        <a:lstStyle/>
        <a:p>
          <a:endParaRPr lang="en-US"/>
        </a:p>
      </dgm:t>
    </dgm:pt>
    <dgm:pt modelId="{6245CAD3-A68C-49E1-BD4C-C6861E1F8CC1}">
      <dgm:prSet/>
      <dgm:spPr/>
      <dgm:t>
        <a:bodyPr/>
        <a:lstStyle/>
        <a:p>
          <a:r>
            <a:rPr lang="en-US" b="1" i="0"/>
            <a:t>Works seamlessly with functional programming style</a:t>
          </a:r>
          <a:endParaRPr lang="en-US"/>
        </a:p>
      </dgm:t>
    </dgm:pt>
    <dgm:pt modelId="{DEA0E1E9-7098-4AC4-B954-BF34811AE2E8}" type="parTrans" cxnId="{76DB91B4-3622-44D8-BC68-9990566AE7C9}">
      <dgm:prSet/>
      <dgm:spPr/>
      <dgm:t>
        <a:bodyPr/>
        <a:lstStyle/>
        <a:p>
          <a:endParaRPr lang="en-US"/>
        </a:p>
      </dgm:t>
    </dgm:pt>
    <dgm:pt modelId="{DF75381B-B018-4602-894E-28626A407BCD}" type="sibTrans" cxnId="{76DB91B4-3622-44D8-BC68-9990566AE7C9}">
      <dgm:prSet/>
      <dgm:spPr/>
      <dgm:t>
        <a:bodyPr/>
        <a:lstStyle/>
        <a:p>
          <a:endParaRPr lang="en-US"/>
        </a:p>
      </dgm:t>
    </dgm:pt>
    <dgm:pt modelId="{FC11B4FA-2A3A-4A94-AD8C-E78498340E74}" type="pres">
      <dgm:prSet presAssocID="{87F476B7-4C9A-40BD-8F6C-F6B94DD7DCBF}" presName="linear" presStyleCnt="0">
        <dgm:presLayoutVars>
          <dgm:animLvl val="lvl"/>
          <dgm:resizeHandles val="exact"/>
        </dgm:presLayoutVars>
      </dgm:prSet>
      <dgm:spPr/>
    </dgm:pt>
    <dgm:pt modelId="{6D5B67F5-5A49-4622-9EE5-8F1FF8190D64}" type="pres">
      <dgm:prSet presAssocID="{74829090-4DC9-448D-8078-EF4E914D4FA2}" presName="parentText" presStyleLbl="node1" presStyleIdx="0" presStyleCnt="1" custScaleY="77252">
        <dgm:presLayoutVars>
          <dgm:chMax val="0"/>
          <dgm:bulletEnabled val="1"/>
        </dgm:presLayoutVars>
      </dgm:prSet>
      <dgm:spPr/>
    </dgm:pt>
    <dgm:pt modelId="{5A33DC33-6A86-4D77-AF0A-392C3983B10B}" type="pres">
      <dgm:prSet presAssocID="{74829090-4DC9-448D-8078-EF4E914D4FA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ED5E30E-879F-4CF3-A78F-7E16F2EC8167}" srcId="{87F476B7-4C9A-40BD-8F6C-F6B94DD7DCBF}" destId="{74829090-4DC9-448D-8078-EF4E914D4FA2}" srcOrd="0" destOrd="0" parTransId="{7A3ABC9A-3007-48C3-9BC8-A9D2152A20D9}" sibTransId="{9FA071EE-37F7-4E20-AA66-CC09F90949E8}"/>
    <dgm:cxn modelId="{3E1C9A3D-6462-4976-9266-9CA8D679E172}" srcId="{74829090-4DC9-448D-8078-EF4E914D4FA2}" destId="{13BCFFD8-D2F8-4951-B360-7F3914CF512B}" srcOrd="1" destOrd="0" parTransId="{761687CD-F3F3-41CB-8697-2BD229A320A4}" sibTransId="{6440E190-E129-48D0-86D9-2B89856A3C4F}"/>
    <dgm:cxn modelId="{64836540-D414-4DFC-8039-E55A89652109}" srcId="{74829090-4DC9-448D-8078-EF4E914D4FA2}" destId="{C342154A-01AD-44A9-92D9-CCA2D76F01C4}" srcOrd="2" destOrd="0" parTransId="{4A85A01D-4FA7-4284-BBAC-DC5E5ABBEA18}" sibTransId="{EEED0C99-35E7-42F9-A7A6-5FB963B572CF}"/>
    <dgm:cxn modelId="{99F53A5D-CF68-491E-9AA7-BF6D2FB40EEF}" type="presOf" srcId="{C342154A-01AD-44A9-92D9-CCA2D76F01C4}" destId="{5A33DC33-6A86-4D77-AF0A-392C3983B10B}" srcOrd="0" destOrd="2" presId="urn:microsoft.com/office/officeart/2005/8/layout/vList2"/>
    <dgm:cxn modelId="{A7330264-E065-42DE-9E2E-D0AFB2C0F38A}" type="presOf" srcId="{42CF947E-57CC-4477-B62A-E186DA0F2B81}" destId="{5A33DC33-6A86-4D77-AF0A-392C3983B10B}" srcOrd="0" destOrd="3" presId="urn:microsoft.com/office/officeart/2005/8/layout/vList2"/>
    <dgm:cxn modelId="{3E47E167-BDB0-46B7-B240-ED157792A840}" type="presOf" srcId="{6245CAD3-A68C-49E1-BD4C-C6861E1F8CC1}" destId="{5A33DC33-6A86-4D77-AF0A-392C3983B10B}" srcOrd="0" destOrd="4" presId="urn:microsoft.com/office/officeart/2005/8/layout/vList2"/>
    <dgm:cxn modelId="{E7B5B749-9E7D-4046-B19C-3BB35587F1AE}" type="presOf" srcId="{74829090-4DC9-448D-8078-EF4E914D4FA2}" destId="{6D5B67F5-5A49-4622-9EE5-8F1FF8190D64}" srcOrd="0" destOrd="0" presId="urn:microsoft.com/office/officeart/2005/8/layout/vList2"/>
    <dgm:cxn modelId="{4F76FCAD-7B57-48C3-9BAE-ECF4D8267AE8}" type="presOf" srcId="{13BCFFD8-D2F8-4951-B360-7F3914CF512B}" destId="{5A33DC33-6A86-4D77-AF0A-392C3983B10B}" srcOrd="0" destOrd="1" presId="urn:microsoft.com/office/officeart/2005/8/layout/vList2"/>
    <dgm:cxn modelId="{76DB91B4-3622-44D8-BC68-9990566AE7C9}" srcId="{74829090-4DC9-448D-8078-EF4E914D4FA2}" destId="{6245CAD3-A68C-49E1-BD4C-C6861E1F8CC1}" srcOrd="4" destOrd="0" parTransId="{DEA0E1E9-7098-4AC4-B954-BF34811AE2E8}" sibTransId="{DF75381B-B018-4602-894E-28626A407BCD}"/>
    <dgm:cxn modelId="{4D257DC3-FA19-4BDA-A722-AFE98078AA46}" type="presOf" srcId="{87F476B7-4C9A-40BD-8F6C-F6B94DD7DCBF}" destId="{FC11B4FA-2A3A-4A94-AD8C-E78498340E74}" srcOrd="0" destOrd="0" presId="urn:microsoft.com/office/officeart/2005/8/layout/vList2"/>
    <dgm:cxn modelId="{2B2FF1E3-E373-4EBB-B177-487C80BC62D5}" srcId="{74829090-4DC9-448D-8078-EF4E914D4FA2}" destId="{27FE2EC0-629D-496F-BD41-EB260CF44319}" srcOrd="0" destOrd="0" parTransId="{16CB004B-9A7F-402C-95B6-B578C5D6501E}" sibTransId="{6D98C765-2B5F-48E5-A43B-A55C55F95838}"/>
    <dgm:cxn modelId="{697A0CE9-4DC8-405F-850B-33B28C00191F}" srcId="{74829090-4DC9-448D-8078-EF4E914D4FA2}" destId="{42CF947E-57CC-4477-B62A-E186DA0F2B81}" srcOrd="3" destOrd="0" parTransId="{65E3F93B-73B0-4090-A778-A696B90B0EBD}" sibTransId="{A7555E52-234B-48DC-93FD-D340C2C7D138}"/>
    <dgm:cxn modelId="{874E0CF7-3EF4-4DF8-B1E7-B600D67D969C}" type="presOf" srcId="{27FE2EC0-629D-496F-BD41-EB260CF44319}" destId="{5A33DC33-6A86-4D77-AF0A-392C3983B10B}" srcOrd="0" destOrd="0" presId="urn:microsoft.com/office/officeart/2005/8/layout/vList2"/>
    <dgm:cxn modelId="{DFD5354F-ED7B-461D-8B70-2C597277452F}" type="presParOf" srcId="{FC11B4FA-2A3A-4A94-AD8C-E78498340E74}" destId="{6D5B67F5-5A49-4622-9EE5-8F1FF8190D64}" srcOrd="0" destOrd="0" presId="urn:microsoft.com/office/officeart/2005/8/layout/vList2"/>
    <dgm:cxn modelId="{32A69CE9-14F8-498F-B17B-9B923B7DBB11}" type="presParOf" srcId="{FC11B4FA-2A3A-4A94-AD8C-E78498340E74}" destId="{5A33DC33-6A86-4D77-AF0A-392C3983B10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B67F5-5A49-4622-9EE5-8F1FF8190D64}">
      <dsp:nvSpPr>
        <dsp:cNvPr id="0" name=""/>
        <dsp:cNvSpPr/>
      </dsp:nvSpPr>
      <dsp:spPr>
        <a:xfrm>
          <a:off x="0" y="12064"/>
          <a:ext cx="7792720" cy="5463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Why Lambda Version is Better</a:t>
          </a:r>
          <a:endParaRPr lang="en-US" sz="2400" kern="1200" dirty="0"/>
        </a:p>
      </dsp:txBody>
      <dsp:txXfrm>
        <a:off x="26672" y="38736"/>
        <a:ext cx="7739376" cy="493032"/>
      </dsp:txXfrm>
    </dsp:sp>
    <dsp:sp modelId="{5A33DC33-6A86-4D77-AF0A-392C3983B10B}">
      <dsp:nvSpPr>
        <dsp:cNvPr id="0" name=""/>
        <dsp:cNvSpPr/>
      </dsp:nvSpPr>
      <dsp:spPr>
        <a:xfrm>
          <a:off x="0" y="558440"/>
          <a:ext cx="7792720" cy="186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41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dirty="0"/>
            <a:t>Cleaner syntax</a:t>
          </a:r>
          <a:r>
            <a:rPr lang="en-US" sz="1900" b="0" i="0" kern="1200" dirty="0"/>
            <a:t> – no repeated interface or method name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/>
            <a:t>Reduces boilerplate</a:t>
          </a:r>
          <a:r>
            <a:rPr lang="en-US" sz="1900" b="0" i="0" kern="1200"/>
            <a:t> (no ActionListener class block)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/>
            <a:t>More readable and focused code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/>
            <a:t>Captures context easily when needed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/>
            <a:t>Works seamlessly with functional programming style</a:t>
          </a:r>
          <a:endParaRPr lang="en-US" sz="1900" kern="1200"/>
        </a:p>
      </dsp:txBody>
      <dsp:txXfrm>
        <a:off x="0" y="558440"/>
        <a:ext cx="7792720" cy="1860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Java 8 – Lambda’s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 fontScale="92500"/>
          </a:bodyPr>
          <a:lstStyle/>
          <a:p>
            <a:r>
              <a:rPr lang="en-US" dirty="0">
                <a:solidFill>
                  <a:srgbClr val="FFFFFF"/>
                </a:solidFill>
              </a:rPr>
              <a:t>                                                                                    ---Vinay Kumar Yadav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/>
              <a:t>Introduction of Lambda’s</a:t>
            </a:r>
            <a:endParaRPr lang="en-US" dirty="0"/>
          </a:p>
        </p:txBody>
      </p:sp>
      <p:pic>
        <p:nvPicPr>
          <p:cNvPr id="7" name="Picture 6" descr="A cartoon of a child sitting at a desk with books and a pencil&#10;&#10;AI-generated content may be incorrect.">
            <a:extLst>
              <a:ext uri="{FF2B5EF4-FFF2-40B4-BE49-F238E27FC236}">
                <a16:creationId xmlns:a16="http://schemas.microsoft.com/office/drawing/2014/main" id="{75AD80A1-9B08-4C12-4D22-24DE2753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01" b="1"/>
          <a:stretch>
            <a:fillRect/>
          </a:stretch>
        </p:blipFill>
        <p:spPr>
          <a:xfrm>
            <a:off x="853440" y="2386051"/>
            <a:ext cx="3320558" cy="363574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03DD3-B9F4-2144-BD2F-08CF7DD9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8804" y="2014742"/>
            <a:ext cx="7518400" cy="4111738"/>
          </a:xfrm>
        </p:spPr>
        <p:txBody>
          <a:bodyPr>
            <a:noAutofit/>
          </a:bodyPr>
          <a:lstStyle/>
          <a:p>
            <a:r>
              <a:rPr lang="en-IN" sz="2000" b="1" dirty="0"/>
              <a:t>Why Lambdas was introduced?</a:t>
            </a:r>
          </a:p>
          <a:p>
            <a:r>
              <a:rPr lang="en-US" sz="2000" dirty="0"/>
              <a:t>Before Java 8, if you needed to create anonymous inner classes for things like: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Callbacks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Event listeners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Comparators</a:t>
            </a:r>
          </a:p>
          <a:p>
            <a:r>
              <a:rPr lang="en-US" sz="2000" dirty="0"/>
              <a:t>...the code would become </a:t>
            </a:r>
            <a:r>
              <a:rPr lang="en-US" sz="2000" b="1" dirty="0"/>
              <a:t>verbose</a:t>
            </a:r>
            <a:r>
              <a:rPr lang="en-US" sz="2000" dirty="0"/>
              <a:t> (meaning it contained more words than necessary) and </a:t>
            </a:r>
            <a:r>
              <a:rPr lang="en-US" sz="2000" b="1" dirty="0"/>
              <a:t>hard to read</a:t>
            </a:r>
            <a:r>
              <a:rPr lang="en-US" sz="2000" dirty="0"/>
              <a:t>.</a:t>
            </a:r>
          </a:p>
          <a:p>
            <a:r>
              <a:rPr lang="en-US" sz="2000" dirty="0"/>
              <a:t>Essentially, Lambdas were introduced to simplify and shorten the code required for these common scenarios, making it more readable and less cumbersome (meaning less complicated and unwieldy).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884D-D1E8-9B87-E706-56AAE912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callback?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969C-1A1C-25E2-F5F3-C82B80C61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callback is a method (a piece of code) that is </a:t>
            </a:r>
            <a:r>
              <a:rPr lang="en-IN" b="1" dirty="0"/>
              <a:t>passed as an argument</a:t>
            </a:r>
            <a:r>
              <a:rPr lang="en-IN" dirty="0"/>
              <a:t> to another method. The receiving method then calls or "calls back" this method later, often when a task is finished, or an event occurs.</a:t>
            </a:r>
          </a:p>
          <a:p>
            <a:pPr lvl="0"/>
            <a:r>
              <a:rPr lang="en-IN" b="1" dirty="0"/>
              <a:t>Common uses:</a:t>
            </a:r>
            <a:r>
              <a:rPr lang="en-IN" dirty="0"/>
              <a:t> Handling button clicks, completing an asynchronous task (like downloading data), or executing code in a separate thread.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691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A732-B40A-3A96-2BB6-4CC49406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602495"/>
            <a:ext cx="9720072" cy="1112616"/>
          </a:xfrm>
        </p:spPr>
        <p:txBody>
          <a:bodyPr/>
          <a:lstStyle/>
          <a:p>
            <a:r>
              <a:rPr lang="en-IN" dirty="0"/>
              <a:t>Example code for callbacks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695176-6D9B-7DB2-8ED7-0E7F7575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603598"/>
            <a:ext cx="5788970" cy="52544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33DD7F-07EB-8DE0-2583-47F5F1E0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1656580"/>
            <a:ext cx="5181600" cy="13438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F56806-D16F-8272-5C2E-2A15418140DF}"/>
              </a:ext>
            </a:extLst>
          </p:cNvPr>
          <p:cNvSpPr txBox="1"/>
          <p:nvPr/>
        </p:nvSpPr>
        <p:spPr>
          <a:xfrm>
            <a:off x="6591300" y="3244334"/>
            <a:ext cx="5252720" cy="369332"/>
          </a:xfrm>
          <a:prstGeom prst="rect">
            <a:avLst/>
          </a:prstGeom>
          <a:solidFill>
            <a:srgbClr val="1CADE4">
              <a:hueOff val="0"/>
              <a:satOff val="0"/>
              <a:lumOff val="0"/>
              <a:alphaOff val="0"/>
            </a:srgbClr>
          </a:solidFill>
          <a:ln w="15875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/>
        </p:spPr>
        <p:txBody>
          <a:bodyPr spcFirstLastPara="0" vert="horz" wrap="square" lIns="91440" tIns="91440" rIns="91440" bIns="91440" numCol="1" spcCol="1270" anchor="ctr" anchorCtr="0">
            <a:noAutofit/>
          </a:bodyPr>
          <a:lstStyle>
            <a:lvl1pPr>
              <a:defRPr b="1" i="0"/>
            </a:lvl1pPr>
          </a:lstStyle>
          <a:p>
            <a:r>
              <a:rPr lang="en-US" dirty="0">
                <a:solidFill>
                  <a:schemeClr val="bg1"/>
                </a:solidFill>
              </a:rPr>
              <a:t>Why Lambdas are Better (Key Points)?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5A3510-78DE-A34F-9292-3DFA5DF6D438}"/>
              </a:ext>
            </a:extLst>
          </p:cNvPr>
          <p:cNvSpPr txBox="1"/>
          <p:nvPr/>
        </p:nvSpPr>
        <p:spPr>
          <a:xfrm>
            <a:off x="6591300" y="3639404"/>
            <a:ext cx="52527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 Flex"/>
              </a:rPr>
              <a:t>Removes anonymous inner class boilerplate</a:t>
            </a:r>
            <a:r>
              <a:rPr lang="en-US" b="0" i="0" dirty="0">
                <a:effectLst/>
                <a:latin typeface="Google Sans Flex"/>
              </a:rPr>
              <a:t> (no new class required).</a:t>
            </a:r>
          </a:p>
          <a:p>
            <a:pPr marL="285750" indent="-2857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 Flex"/>
              </a:rPr>
              <a:t>Code is </a:t>
            </a:r>
            <a:r>
              <a:rPr lang="en-US" b="1" i="0" dirty="0">
                <a:effectLst/>
                <a:latin typeface="Google Sans Flex"/>
              </a:rPr>
              <a:t>shorter and more expressive</a:t>
            </a:r>
            <a:r>
              <a:rPr lang="en-US" b="0" i="0" dirty="0">
                <a:effectLst/>
                <a:latin typeface="Google Sans Flex"/>
              </a:rPr>
              <a:t>.</a:t>
            </a:r>
          </a:p>
          <a:p>
            <a:pPr marL="285750" indent="-2857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 Flex"/>
              </a:rPr>
              <a:t>Easier to read and maintain</a:t>
            </a:r>
            <a:r>
              <a:rPr lang="en-US" b="0" i="0" dirty="0">
                <a:effectLst/>
                <a:latin typeface="Google Sans Flex"/>
              </a:rPr>
              <a:t>.</a:t>
            </a:r>
          </a:p>
          <a:p>
            <a:pPr marL="285750" indent="-2857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Google Sans Flex"/>
              </a:rPr>
              <a:t>Enables functional-style programming</a:t>
            </a:r>
            <a:r>
              <a:rPr lang="en-US" b="0" i="0" dirty="0">
                <a:effectLst/>
                <a:latin typeface="Google Sans Flex"/>
              </a:rPr>
              <a:t> and works well with </a:t>
            </a:r>
            <a:r>
              <a:rPr lang="en-US" b="1" i="0" dirty="0">
                <a:effectLst/>
                <a:latin typeface="Google Sans Flex"/>
              </a:rPr>
              <a:t>Streams</a:t>
            </a:r>
            <a:r>
              <a:rPr lang="en-US" b="0" i="0" dirty="0">
                <a:effectLst/>
                <a:latin typeface="Google Sans Flex"/>
              </a:rPr>
              <a:t>.</a:t>
            </a:r>
          </a:p>
          <a:p>
            <a:pPr marL="285750" indent="-28575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 Flex"/>
              </a:rPr>
              <a:t>Lambdas capture </a:t>
            </a:r>
            <a:r>
              <a:rPr lang="en-US" b="1" i="0" dirty="0">
                <a:effectLst/>
                <a:latin typeface="Google Sans Flex"/>
              </a:rPr>
              <a:t>final or effectively-final variables</a:t>
            </a:r>
            <a:r>
              <a:rPr lang="en-US" b="0" i="0" dirty="0">
                <a:effectLst/>
                <a:latin typeface="Google Sans Flex"/>
              </a:rPr>
              <a:t> (safer closures).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61F438-540E-0535-54D7-50BD6B173407}"/>
              </a:ext>
            </a:extLst>
          </p:cNvPr>
          <p:cNvSpPr txBox="1"/>
          <p:nvPr/>
        </p:nvSpPr>
        <p:spPr>
          <a:xfrm>
            <a:off x="906903" y="5996610"/>
            <a:ext cx="5583107" cy="861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1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Problem:</a:t>
            </a:r>
            <a:r>
              <a:rPr lang="en-IN" sz="11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This required </a:t>
            </a:r>
            <a:r>
              <a:rPr lang="en-IN" sz="11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six lines of boilerplate</a:t>
            </a:r>
            <a:r>
              <a:rPr lang="en-IN" sz="11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(creating new Callback(), the @Override annotation, and the method signature public void call()) just to execute one line of actual work. This is the </a:t>
            </a:r>
            <a:r>
              <a:rPr lang="en-IN" sz="11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cumbersome</a:t>
            </a:r>
            <a:r>
              <a:rPr lang="en-IN" sz="1100" kern="12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(meaning less complicated and unwieldy)</a:t>
            </a:r>
            <a:r>
              <a:rPr lang="en-IN" sz="11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part the previous text referred to.</a:t>
            </a:r>
          </a:p>
        </p:txBody>
      </p:sp>
    </p:spTree>
    <p:extLst>
      <p:ext uri="{BB962C8B-B14F-4D97-AF65-F5344CB8AC3E}">
        <p14:creationId xmlns:p14="http://schemas.microsoft.com/office/powerpoint/2010/main" val="265914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824A-80A3-528C-394F-3CDAD376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event </a:t>
            </a:r>
            <a:r>
              <a:rPr lang="en-IN" dirty="0" err="1"/>
              <a:t>listner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F937-2417-CC51-6CD5-9925E3CAB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85554"/>
            <a:ext cx="9720073" cy="40233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Event Listener</a:t>
            </a:r>
            <a:r>
              <a:rPr lang="en-US" dirty="0"/>
              <a:t> is an object that </a:t>
            </a:r>
            <a:r>
              <a:rPr lang="en-US" b="1" dirty="0"/>
              <a:t>waits for an event to occur</a:t>
            </a:r>
            <a:r>
              <a:rPr lang="en-US" dirty="0"/>
              <a:t> (like a button click, mouse move, key press, etc.) and </a:t>
            </a:r>
            <a:r>
              <a:rPr lang="en-US" b="1" dirty="0"/>
              <a:t>executes specific code in response</a:t>
            </a:r>
            <a:r>
              <a:rPr lang="en-US" dirty="0"/>
              <a:t> to that event.</a:t>
            </a:r>
          </a:p>
          <a:p>
            <a:r>
              <a:rPr lang="en-US" dirty="0"/>
              <a:t>In simple words:</a:t>
            </a:r>
          </a:p>
          <a:p>
            <a:r>
              <a:rPr lang="en-US" dirty="0"/>
              <a:t> </a:t>
            </a:r>
            <a:r>
              <a:rPr lang="en-US" b="1" dirty="0"/>
              <a:t>Event Listener = “When this happens, do this.”</a:t>
            </a:r>
            <a:endParaRPr lang="en-US" dirty="0"/>
          </a:p>
          <a:p>
            <a:r>
              <a:rPr lang="en-US" b="1" dirty="0"/>
              <a:t>Example:</a:t>
            </a:r>
          </a:p>
          <a:p>
            <a:r>
              <a:rPr lang="en-US" dirty="0"/>
              <a:t>Button clicked → run some code</a:t>
            </a:r>
          </a:p>
          <a:p>
            <a:r>
              <a:rPr lang="en-US" dirty="0"/>
              <a:t>Mouse moved → update UI</a:t>
            </a:r>
          </a:p>
          <a:p>
            <a:r>
              <a:rPr lang="en-US" dirty="0"/>
              <a:t>Key pressed → validate input</a:t>
            </a:r>
          </a:p>
          <a:p>
            <a:r>
              <a:rPr lang="en-US" dirty="0"/>
              <a:t>In Java, an event listener is usually an interface (like ActionListener) with a method that gets called automatically when the event happens.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30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D23F-252F-00F3-1C31-CB66B197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67F6-5049-5E61-127E-3A58EA6B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789481"/>
            <a:ext cx="9720072" cy="1112616"/>
          </a:xfrm>
        </p:spPr>
        <p:txBody>
          <a:bodyPr/>
          <a:lstStyle/>
          <a:p>
            <a:r>
              <a:rPr lang="en-IN" dirty="0"/>
              <a:t>Example code for Event Listeners</a:t>
            </a:r>
          </a:p>
        </p:txBody>
      </p:sp>
      <p:graphicFrame>
        <p:nvGraphicFramePr>
          <p:cNvPr id="20" name="TextBox 7">
            <a:extLst>
              <a:ext uri="{FF2B5EF4-FFF2-40B4-BE49-F238E27FC236}">
                <a16:creationId xmlns:a16="http://schemas.microsoft.com/office/drawing/2014/main" id="{7822D386-046A-8A54-E7BF-E79F6EC0CF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694586"/>
              </p:ext>
            </p:extLst>
          </p:nvPr>
        </p:nvGraphicFramePr>
        <p:xfrm>
          <a:off x="1107440" y="4050072"/>
          <a:ext cx="7792720" cy="2431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70F496-6299-E96B-542B-1EE41EC3457D}"/>
              </a:ext>
            </a:extLst>
          </p:cNvPr>
          <p:cNvSpPr txBox="1"/>
          <p:nvPr/>
        </p:nvSpPr>
        <p:spPr>
          <a:xfrm>
            <a:off x="894530" y="3207531"/>
            <a:ext cx="10059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problem is that </a:t>
            </a:r>
            <a:r>
              <a:rPr lang="en-US" b="1" dirty="0"/>
              <a:t>anonymous inner classes made event listener code too long and filled with unnecessary boilerplate.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2670E2-C286-F26D-2CA3-2EEA804B9A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530" y="1658051"/>
            <a:ext cx="5898156" cy="1573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297280-74EB-002A-CB3C-F28BDCC98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3314" y="1633891"/>
            <a:ext cx="4957631" cy="157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5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086E-812B-C5B2-CB28-B9F1402A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comparator?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0311-FAFC-1612-9C94-C5F1A07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059" y="2031585"/>
            <a:ext cx="5650991" cy="402336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Comparator</a:t>
            </a:r>
            <a:r>
              <a:rPr lang="en-US" dirty="0"/>
              <a:t> is an interface in Java used to </a:t>
            </a:r>
            <a:r>
              <a:rPr lang="en-US" b="1" dirty="0"/>
              <a:t>define custom sorting logic</a:t>
            </a:r>
            <a:r>
              <a:rPr lang="en-US" dirty="0"/>
              <a:t> for objects.</a:t>
            </a:r>
          </a:p>
          <a:p>
            <a:r>
              <a:rPr lang="en-US" b="1" dirty="0"/>
              <a:t>Simple definition:</a:t>
            </a:r>
          </a:p>
          <a:p>
            <a:r>
              <a:rPr lang="en-US" dirty="0"/>
              <a:t>👉 </a:t>
            </a:r>
            <a:r>
              <a:rPr lang="en-US" b="1" dirty="0"/>
              <a:t>Comparator = a rule that tells Java how to compare two objects.</a:t>
            </a:r>
            <a:endParaRPr lang="en-US" dirty="0"/>
          </a:p>
          <a:p>
            <a:r>
              <a:rPr lang="en-US" b="1" dirty="0"/>
              <a:t>Why we use it:</a:t>
            </a:r>
          </a:p>
          <a:p>
            <a:r>
              <a:rPr lang="en-US" dirty="0"/>
              <a:t>To sort objects </a:t>
            </a:r>
            <a:r>
              <a:rPr lang="en-US" b="1" dirty="0"/>
              <a:t>in a specific order</a:t>
            </a:r>
            <a:r>
              <a:rPr lang="en-US" dirty="0"/>
              <a:t> (ascending, descending, by name, by age, etc.)</a:t>
            </a:r>
          </a:p>
          <a:p>
            <a:r>
              <a:rPr lang="en-US" dirty="0"/>
              <a:t>To provide sorting logic </a:t>
            </a:r>
            <a:r>
              <a:rPr lang="en-US" b="1" dirty="0"/>
              <a:t>outside</a:t>
            </a:r>
            <a:r>
              <a:rPr lang="en-US" dirty="0"/>
              <a:t> the class (unlike Comparable which is inside the class)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CFCD2-89E3-33C9-A249-6565CAE2E02E}"/>
              </a:ext>
            </a:extLst>
          </p:cNvPr>
          <p:cNvSpPr txBox="1"/>
          <p:nvPr/>
        </p:nvSpPr>
        <p:spPr>
          <a:xfrm>
            <a:off x="6504432" y="2000234"/>
            <a:ext cx="48855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Example:</a:t>
            </a:r>
          </a:p>
          <a:p>
            <a:r>
              <a:rPr lang="en-US" sz="2200" dirty="0"/>
              <a:t>If you want to sort strings alphabetically, the comparator decides </a:t>
            </a:r>
            <a:r>
              <a:rPr lang="en-US" sz="2200" b="1" dirty="0"/>
              <a:t>how two strings should be compared</a:t>
            </a:r>
            <a:r>
              <a:rPr lang="en-US" sz="2200" dirty="0"/>
              <a:t>:</a:t>
            </a:r>
          </a:p>
          <a:p>
            <a:r>
              <a:rPr lang="en-US" sz="2200" dirty="0"/>
              <a:t>(o1, o2) -&gt; o1.compareTo(o2)</a:t>
            </a:r>
          </a:p>
          <a:p>
            <a:r>
              <a:rPr lang="en-US" sz="2200" dirty="0"/>
              <a:t>You can use a comparator to sort by:</a:t>
            </a:r>
          </a:p>
          <a:p>
            <a:r>
              <a:rPr lang="en-US" sz="2200" dirty="0"/>
              <a:t>Name</a:t>
            </a:r>
          </a:p>
          <a:p>
            <a:r>
              <a:rPr lang="en-US" sz="2200" dirty="0"/>
              <a:t>Age</a:t>
            </a:r>
          </a:p>
          <a:p>
            <a:r>
              <a:rPr lang="en-US" sz="2200" dirty="0"/>
              <a:t>Salary</a:t>
            </a:r>
          </a:p>
          <a:p>
            <a:r>
              <a:rPr lang="en-US" sz="2200" dirty="0"/>
              <a:t>Any custom condition</a:t>
            </a:r>
          </a:p>
          <a:p>
            <a:r>
              <a:rPr lang="en-US" sz="2200" dirty="0"/>
              <a:t>So, </a:t>
            </a:r>
            <a:r>
              <a:rPr lang="en-US" sz="2200" b="1" dirty="0"/>
              <a:t>Comparator = custom sorting logic provider.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393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A2FA720-D4AE-22A3-BA43-A08B9C63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7105745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Example code for comparators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D5B96-2940-116E-39B8-6E41CBC78F4F}"/>
              </a:ext>
            </a:extLst>
          </p:cNvPr>
          <p:cNvSpPr txBox="1"/>
          <p:nvPr/>
        </p:nvSpPr>
        <p:spPr>
          <a:xfrm>
            <a:off x="1024128" y="2286000"/>
            <a:ext cx="7105744" cy="248716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None/>
            </a:pPr>
            <a:r>
              <a:rPr lang="en-US" b="1" dirty="0"/>
              <a:t>Why Lambdas &amp; Method References Are Better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ogle Sans Flex"/>
              </a:rPr>
              <a:t>Removes verbose anonymous Comparator class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ogle Sans Flex"/>
              </a:rPr>
              <a:t>Lambda syntax is shorter and easier to read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ogle Sans Flex"/>
              </a:rPr>
              <a:t>Method reference is the cleanest and most expressive form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ogle Sans Flex"/>
              </a:rPr>
              <a:t>Improves code clarity in sorting and stream operations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ogle Sans Flex"/>
              </a:rPr>
              <a:t>Reduces boilerplate and focuses only on comparison logic.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26766-0281-08A7-DDBE-CCC42A827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96" y="4997089"/>
            <a:ext cx="4640698" cy="1612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CFB8F9-A8C0-DE14-E97A-2B5AED60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95" y="4997090"/>
            <a:ext cx="4640699" cy="1632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689767-8C75-F08B-4D87-3E99F0632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548" y="1659741"/>
            <a:ext cx="4731447" cy="33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BFE2-E59B-116E-550D-D3417843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runnable?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EAB7-C154-21A6-A06C-B46040B22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807746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Runnable</a:t>
            </a:r>
            <a:r>
              <a:rPr lang="en-US" dirty="0"/>
              <a:t> is a </a:t>
            </a:r>
            <a:r>
              <a:rPr lang="en-US" b="1" dirty="0"/>
              <a:t>functional interface</a:t>
            </a:r>
            <a:r>
              <a:rPr lang="en-US" dirty="0"/>
              <a:t> in Java that represents a </a:t>
            </a:r>
            <a:r>
              <a:rPr lang="en-US" b="1" dirty="0"/>
              <a:t>task or piece of work that can be executed by a thread</a:t>
            </a:r>
            <a:r>
              <a:rPr lang="en-US" dirty="0"/>
              <a:t>.</a:t>
            </a:r>
          </a:p>
          <a:p>
            <a:r>
              <a:rPr lang="en-US" b="1" dirty="0"/>
              <a:t>Simple Definition:</a:t>
            </a:r>
          </a:p>
          <a:p>
            <a:r>
              <a:rPr lang="en-US" dirty="0"/>
              <a:t>👉 </a:t>
            </a:r>
            <a:r>
              <a:rPr lang="en-US" b="1" dirty="0"/>
              <a:t>Runnable = a task that a thread can run.</a:t>
            </a:r>
            <a:endParaRPr lang="en-US" dirty="0"/>
          </a:p>
          <a:p>
            <a:r>
              <a:rPr lang="en-US" b="1" dirty="0"/>
              <a:t>Key Point:</a:t>
            </a:r>
          </a:p>
          <a:p>
            <a:r>
              <a:rPr lang="en-US" dirty="0"/>
              <a:t>It has only </a:t>
            </a:r>
            <a:r>
              <a:rPr lang="en-US" b="1" dirty="0"/>
              <a:t>one method</a:t>
            </a:r>
            <a:r>
              <a:rPr lang="en-US" dirty="0"/>
              <a:t>:</a:t>
            </a:r>
          </a:p>
          <a:p>
            <a:r>
              <a:rPr lang="en-US" dirty="0"/>
              <a:t>void run();</a:t>
            </a:r>
          </a:p>
          <a:p>
            <a:r>
              <a:rPr lang="en-US" dirty="0"/>
              <a:t>Whatever code you put inside run() is what the thread will execute.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927C3-67F5-487F-246B-1FF27C5969E8}"/>
              </a:ext>
            </a:extLst>
          </p:cNvPr>
          <p:cNvSpPr txBox="1"/>
          <p:nvPr/>
        </p:nvSpPr>
        <p:spPr>
          <a:xfrm>
            <a:off x="6831875" y="2174022"/>
            <a:ext cx="47026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Example:</a:t>
            </a:r>
          </a:p>
          <a:p>
            <a:r>
              <a:rPr lang="en-US" sz="2200" dirty="0"/>
              <a:t>Runnable task = () -&gt; </a:t>
            </a:r>
            <a:r>
              <a:rPr lang="en-US" sz="2200" dirty="0" err="1"/>
              <a:t>System.out.println</a:t>
            </a:r>
            <a:r>
              <a:rPr lang="en-US" sz="2200" dirty="0"/>
              <a:t>("Task is running!");</a:t>
            </a:r>
          </a:p>
          <a:p>
            <a:r>
              <a:rPr lang="en-US" sz="2200" dirty="0"/>
              <a:t>new Thread(task).start();</a:t>
            </a:r>
          </a:p>
          <a:p>
            <a:r>
              <a:rPr lang="en-US" sz="2200" dirty="0"/>
              <a:t>So, </a:t>
            </a:r>
            <a:r>
              <a:rPr lang="en-US" sz="2200" b="1" dirty="0"/>
              <a:t>Runnable is simply a unit of work that can run in a separate thread.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1105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5C9C9-4B40-F1D1-3E47-2CE57209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56E7627-9054-4C34-A9FF-A07F95284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CD9CCAB-C2D6-9A69-C016-BEC95081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Example code for Runnable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8F86BF-56EF-C12C-A87E-D4D71AD0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3" y="912343"/>
            <a:ext cx="3900105" cy="293482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AFFBAEC-4B09-4263-AA73-ECE450FC7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75766" y="484632"/>
            <a:ext cx="804672" cy="351194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70AA90-7628-435C-9F08-19F2E026D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045B6E3-569F-487B-8966-D3A87C7B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7150" y="4150596"/>
            <a:ext cx="477182" cy="223180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A4E8B7-83C4-0705-CE0F-21DD5EF47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331" y="4112624"/>
            <a:ext cx="4645505" cy="2160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E6FF6B-82A9-5AC9-355D-CB97A90C1F89}"/>
              </a:ext>
            </a:extLst>
          </p:cNvPr>
          <p:cNvSpPr txBox="1"/>
          <p:nvPr/>
        </p:nvSpPr>
        <p:spPr>
          <a:xfrm>
            <a:off x="5951728" y="2286000"/>
            <a:ext cx="5740739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b="1" dirty="0"/>
              <a:t>Why Lambda Version is Better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Cleaner syntax – no anonymous inner class required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Removes unnecessary boilerplate code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More readable and concise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Ideal for functional programming style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Works smoothly with threads and executor services</a:t>
            </a:r>
          </a:p>
        </p:txBody>
      </p:sp>
    </p:spTree>
    <p:extLst>
      <p:ext uri="{BB962C8B-B14F-4D97-AF65-F5344CB8AC3E}">
        <p14:creationId xmlns:p14="http://schemas.microsoft.com/office/powerpoint/2010/main" val="2262221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1215</TotalTime>
  <Words>770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Google Sans Flex</vt:lpstr>
      <vt:lpstr>Tw Cen MT</vt:lpstr>
      <vt:lpstr>Tw Cen MT Condensed</vt:lpstr>
      <vt:lpstr>Wingdings</vt:lpstr>
      <vt:lpstr>Wingdings 3</vt:lpstr>
      <vt:lpstr>Integral</vt:lpstr>
      <vt:lpstr>Java 8 – Lambda’s</vt:lpstr>
      <vt:lpstr>Introduction of Lambda’s</vt:lpstr>
      <vt:lpstr>What is a callback?</vt:lpstr>
      <vt:lpstr>Example code for callbacks</vt:lpstr>
      <vt:lpstr>What is an event listner?</vt:lpstr>
      <vt:lpstr>Example code for Event Listeners</vt:lpstr>
      <vt:lpstr>What is comparator?</vt:lpstr>
      <vt:lpstr>Example code for comparators</vt:lpstr>
      <vt:lpstr>What is runnable?</vt:lpstr>
      <vt:lpstr>Example code for Runnable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Kowkoori</dc:creator>
  <cp:lastModifiedBy>Vinay Kowkoori</cp:lastModifiedBy>
  <cp:revision>8</cp:revision>
  <dcterms:created xsi:type="dcterms:W3CDTF">2025-11-17T13:41:24Z</dcterms:created>
  <dcterms:modified xsi:type="dcterms:W3CDTF">2025-11-18T09:56:28Z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